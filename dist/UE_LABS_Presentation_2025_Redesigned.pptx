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cover facts preserved: UE LABS; presenter Nuria Bas; role UE CS&amp;Q Director &amp; Labs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3 Labs; 7 Lab Employees; 3012 tests done in 2021; 1 Lab accredited by UL since 1999; one lab in each manufacturing plant; 5 lab technicians, 1 Test &amp; Expert Leader and Lab Manager; Capellades Lab is CTDP by UL since 1999, File number DA307.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UNIVERSAL ENCLOSURES LoB is inside Energy Management Business, Power Systems &amp; services Division, and ETO (Engineering To Order) LoB. UE Labs is shown as the highlighted final destination in the rebuilt pathway.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Universal Enclosures Lab is inside Customer Satisfaction &amp; Quality Department. Lab is led directly by the CS&amp;Q Director. CS&amp;Q Director is leading directly UE labs and as well as the function of Quality Director for the labs. The Technical Director for labs is what we call internally “Test &amp; Expert Leader”.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mission bullets preserved: Assure the quality of the standard of production; Ensure qualification of product evolutions or new products launch; Ensure certifications tests (1 UL accredited Lab); Validate P&amp;S specific solutions; Analyse returns (RTA and TEX); Give support to the Customer Technical Support team; Manage the calibration of labs &amp; plants equipment.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SU: Sarre-Union Lab (France); ML: Molins de Rei Lab (Spain); KP: Capellades Lab (Spain).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Capellades Lab; Spain; UL CTDP since 1999; File number DA307; tests according to UL Standard can be performed with total autonomy and direct recognition of Underwriters Laboratories Inc.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Sarre-Union Lab; France; part of UE Labs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Molins de Rei Lab; Spain; part of UE Labs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standard descriptions preserved:
IEC 62208: Empty enclosures for low-voltage switchgear and controlgear assemblies - General requirements
ISO 12944-6: Paints and varnishes — Corrosion protection of steel structures by protective paint systems — Part 6: Laboratory performance test methods
ISO 4624: Paints and varnishes — Pull-off test for adhesion
IEC 60079-0: Explosive atmospheres -- Part 0: Equipment - General requirements
EN 61386-1: Conduit systems for cable management -- Part 1: General requirements
IEC 61439-1: Low-voltage switchgear and controlgear assemblies - Part 1: General rules
IEC 61439-5: Low-voltage switchgear and controlgear assemblies - Part 5: Assemblies for power distribution in public networks
UL 50 / CSA C22.2 Nº 94.1: Enclosures for Electrical Equipment, Non-Environmental Considerations
UL 50E / CSA C22.2 Nº 94.2: Enclosures for Electrical Equipment, Environmental Considerations
UL 746 C: Standard for Polymeric Materials - Use in Electrical Equipment Evaluations
Lab grouping follows the three source standards blocks from the original slide: SU top block, ML right block, KP left block with UL CTDP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facts preserved: Spacial - Steel and stainless steel; Thalassa - Plastic and glass-reinforced polyester; ClimaSys - Thermal management systems; Types of Products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fact preserved: Spacial, Thalassa and ClimaSys enclosures and thermal management solutions are the world’s best choice for equipment protection in any type of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rebuilt from blank source slide using required UE LABS closing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rodriguez/Desktop/SLIDE_SCHNEIDER/assets/processed/cover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80C0E">
              <a:alpha val="95000"/>
            </a:srgbClr>
          </a:solidFill>
          <a:ln w="12700">
            <a:solidFill>
              <a:srgbClr val="080C0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58368"/>
            <a:ext cx="201168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pic>
        <p:nvPicPr>
          <p:cNvPr id="6" name="Image 1" descr="/Users/marcrodriguez/Desktop/SLIDE_SCHNEIDER/assets/processed/schneider_logo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02920"/>
            <a:ext cx="1417320" cy="3925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97510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UE LABS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713232" y="27614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certification &amp; product validation network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713232" y="3401568"/>
            <a:ext cx="324612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4736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Nuria Bas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3232" y="5047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CS&amp;Q Director &amp; Labs Director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14" name="Text 10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SNAPSHOT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UE Labs at a glance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local manufacturing-plant laboratories supporting validation, certification and quality.</a:t>
            </a:r>
            <a:endParaRPr lang="en-US" sz="1400" dirty="0"/>
          </a:p>
        </p:txBody>
      </p:sp>
      <p:pic>
        <p:nvPicPr>
          <p:cNvPr id="33" name="Image 0" descr="/Users/marcrodriguez/Desktop/SLIDE_SCHNEIDER/assets/processed/ue_labs_network_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325880"/>
            <a:ext cx="5074920" cy="326440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58368" y="4828032"/>
            <a:ext cx="4572000" cy="658368"/>
          </a:xfrm>
          <a:prstGeom prst="rect">
            <a:avLst/>
          </a:prstGeom>
          <a:solidFill>
            <a:srgbClr val="111A1F">
              <a:alpha val="78000"/>
            </a:srgbClr>
          </a:solidFill>
          <a:ln w="12700">
            <a:solidFill>
              <a:srgbClr val="344148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" y="499262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lab in each manufacturing plant: Sarre-Union, Molins de Rei &amp; Capellades.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870448" y="12984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CD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37" name="Shape 34"/>
          <p:cNvSpPr/>
          <p:nvPr/>
        </p:nvSpPr>
        <p:spPr>
          <a:xfrm>
            <a:off x="5870448" y="1874520"/>
            <a:ext cx="1243584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70448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5870448" y="2368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Sarre-Union, Molins de Rei and Capellades</a:t>
            </a:r>
            <a:endParaRPr lang="en-US" sz="1040" dirty="0"/>
          </a:p>
        </p:txBody>
      </p:sp>
      <p:sp>
        <p:nvSpPr>
          <p:cNvPr id="40" name="Text 37"/>
          <p:cNvSpPr/>
          <p:nvPr/>
        </p:nvSpPr>
        <p:spPr>
          <a:xfrm>
            <a:off x="8138160" y="129844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CD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3600" dirty="0"/>
          </a:p>
        </p:txBody>
      </p:sp>
      <p:sp>
        <p:nvSpPr>
          <p:cNvPr id="41" name="Shape 38"/>
          <p:cNvSpPr/>
          <p:nvPr/>
        </p:nvSpPr>
        <p:spPr>
          <a:xfrm>
            <a:off x="8138160" y="1874520"/>
            <a:ext cx="2020824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38160" y="20116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Employees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8138160" y="23682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lab technicians, 1 Test &amp; Expert Leader and Lab Manager</a:t>
            </a:r>
            <a:endParaRPr lang="en-US" sz="1040" dirty="0"/>
          </a:p>
        </p:txBody>
      </p:sp>
      <p:sp>
        <p:nvSpPr>
          <p:cNvPr id="44" name="Text 41"/>
          <p:cNvSpPr/>
          <p:nvPr/>
        </p:nvSpPr>
        <p:spPr>
          <a:xfrm>
            <a:off x="5870448" y="3090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CD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3012</a:t>
            </a:r>
            <a:endParaRPr lang="en-US" sz="3600" dirty="0"/>
          </a:p>
        </p:txBody>
      </p:sp>
      <p:sp>
        <p:nvSpPr>
          <p:cNvPr id="45" name="Shape 42"/>
          <p:cNvSpPr/>
          <p:nvPr/>
        </p:nvSpPr>
        <p:spPr>
          <a:xfrm>
            <a:off x="5870448" y="3666744"/>
            <a:ext cx="1741018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70448" y="3803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done in 2021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759952" y="309067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CD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48" name="Shape 45"/>
          <p:cNvSpPr/>
          <p:nvPr/>
        </p:nvSpPr>
        <p:spPr>
          <a:xfrm>
            <a:off x="8759952" y="3666744"/>
            <a:ext cx="1803197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59952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accredited by UL since 1999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5870448" y="5074920"/>
            <a:ext cx="5303520" cy="704088"/>
          </a:xfrm>
          <a:prstGeom prst="rect">
            <a:avLst/>
          </a:prstGeom>
          <a:solidFill>
            <a:srgbClr val="111A1F">
              <a:alpha val="87000"/>
            </a:srgbClr>
          </a:solidFill>
          <a:ln w="12700">
            <a:solidFill>
              <a:srgbClr val="3DCD58">
                <a:alpha val="6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89904" y="52760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Capellades Lab is CTDP by UL since 1999, File number DA307</a:t>
            </a:r>
            <a:endParaRPr lang="en-US" sz="1320" dirty="0"/>
          </a:p>
        </p:txBody>
      </p:sp>
      <p:sp>
        <p:nvSpPr>
          <p:cNvPr id="52" name="Shape 49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54" name="Text 51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SCHNEIDER ELECTRIC ORGANIZATION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UE Labs fits in Schneider Electric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Enclosures LoB is inside the Energy Management business structure.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86384" y="2743200"/>
            <a:ext cx="1984248" cy="960120"/>
          </a:xfrm>
          <a:prstGeom prst="rect">
            <a:avLst/>
          </a:prstGeom>
          <a:solidFill>
            <a:srgbClr val="172328">
              <a:alpha val="97000"/>
            </a:srgbClr>
          </a:solidFill>
          <a:ln w="12700">
            <a:solidFill>
              <a:srgbClr val="344148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2843784"/>
            <a:ext cx="1746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Management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2788920" y="3227832"/>
            <a:ext cx="219456" cy="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026664" y="2743200"/>
            <a:ext cx="1984248" cy="960120"/>
          </a:xfrm>
          <a:prstGeom prst="rect">
            <a:avLst/>
          </a:prstGeom>
          <a:solidFill>
            <a:srgbClr val="172328">
              <a:alpha val="97000"/>
            </a:srgbClr>
          </a:solidFill>
          <a:ln w="12700">
            <a:solidFill>
              <a:srgbClr val="344148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45536" y="2843784"/>
            <a:ext cx="1746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Systems &amp; Services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029200" y="3227832"/>
            <a:ext cx="219456" cy="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266944" y="2743200"/>
            <a:ext cx="1984248" cy="960120"/>
          </a:xfrm>
          <a:prstGeom prst="rect">
            <a:avLst/>
          </a:prstGeom>
          <a:solidFill>
            <a:srgbClr val="172328">
              <a:alpha val="97000"/>
            </a:srgbClr>
          </a:solidFill>
          <a:ln w="12700">
            <a:solidFill>
              <a:srgbClr val="344148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85816" y="2843784"/>
            <a:ext cx="1746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ETO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To Order LoB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269480" y="3227832"/>
            <a:ext cx="219456" cy="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507224" y="2743200"/>
            <a:ext cx="1984248" cy="960120"/>
          </a:xfrm>
          <a:prstGeom prst="rect">
            <a:avLst/>
          </a:prstGeom>
          <a:solidFill>
            <a:srgbClr val="172328">
              <a:alpha val="97000"/>
            </a:srgbClr>
          </a:solidFill>
          <a:ln w="12700">
            <a:solidFill>
              <a:srgbClr val="344148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6096" y="2843784"/>
            <a:ext cx="1746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Enclosures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LoB</a:t>
            </a:r>
            <a:endParaRPr lang="en-US" sz="1320" dirty="0"/>
          </a:p>
        </p:txBody>
      </p:sp>
      <p:sp>
        <p:nvSpPr>
          <p:cNvPr id="44" name="Shape 42"/>
          <p:cNvSpPr/>
          <p:nvPr/>
        </p:nvSpPr>
        <p:spPr>
          <a:xfrm>
            <a:off x="9509760" y="3227832"/>
            <a:ext cx="219456" cy="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747504" y="2743200"/>
            <a:ext cx="1984248" cy="960120"/>
          </a:xfrm>
          <a:prstGeom prst="rect">
            <a:avLst/>
          </a:prstGeom>
          <a:solidFill>
            <a:srgbClr val="123F21">
              <a:alpha val="97000"/>
            </a:srgbClr>
          </a:solidFill>
          <a:ln w="12700">
            <a:solidFill>
              <a:srgbClr val="3DCD58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47504" y="2743200"/>
            <a:ext cx="45720" cy="96012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66376" y="2843784"/>
            <a:ext cx="1746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Labs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network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50976" y="4681728"/>
            <a:ext cx="10241280" cy="530352"/>
          </a:xfrm>
          <a:prstGeom prst="rect">
            <a:avLst/>
          </a:prstGeom>
          <a:solidFill>
            <a:srgbClr val="111A1F">
              <a:alpha val="76000"/>
            </a:srgbClr>
          </a:solidFill>
          <a:ln w="12700">
            <a:solidFill>
              <a:srgbClr val="344148">
                <a:alpha val="2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70432" y="4864608"/>
            <a:ext cx="9802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Management → Power Systems &amp; Services → ETO → Universal Enclosures → UE Labs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3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UE Labs governance model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Enclosures Lab sits inside Customer Satisfaction &amp; Quality Department.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07408" y="1572768"/>
            <a:ext cx="3383280" cy="713232"/>
          </a:xfrm>
          <a:prstGeom prst="rect">
            <a:avLst/>
          </a:prstGeom>
          <a:solidFill>
            <a:srgbClr val="123F21">
              <a:alpha val="97000"/>
            </a:srgbClr>
          </a:solidFill>
          <a:ln w="12700">
            <a:solidFill>
              <a:srgbClr val="3DCD58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07408" y="1572768"/>
            <a:ext cx="45720" cy="713232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16733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CS&amp;Q Director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986784" y="24505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UE labs directly and also leads the Quality Director function for the labs.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841248" y="2926080"/>
            <a:ext cx="3200400" cy="694944"/>
          </a:xfrm>
          <a:prstGeom prst="rect">
            <a:avLst/>
          </a:prstGeom>
          <a:solidFill>
            <a:srgbClr val="172328">
              <a:alpha val="97000"/>
            </a:srgbClr>
          </a:solidFill>
          <a:ln w="12700">
            <a:solidFill>
              <a:srgbClr val="344148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2926080"/>
            <a:ext cx="45720" cy="694944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3026664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Satisfaction &amp; Quality Department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174736" y="2926080"/>
            <a:ext cx="3182112" cy="694944"/>
          </a:xfrm>
          <a:prstGeom prst="rect">
            <a:avLst/>
          </a:prstGeom>
          <a:solidFill>
            <a:srgbClr val="172328">
              <a:alpha val="97000"/>
            </a:srgbClr>
          </a:solidFill>
          <a:ln w="12700">
            <a:solidFill>
              <a:srgbClr val="344148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74736" y="2926080"/>
            <a:ext cx="45720" cy="694944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93608" y="3026664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Director function for labs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26864" y="3127248"/>
            <a:ext cx="2907792" cy="822960"/>
          </a:xfrm>
          <a:prstGeom prst="rect">
            <a:avLst/>
          </a:prstGeom>
          <a:solidFill>
            <a:srgbClr val="111A1F">
              <a:alpha val="82000"/>
            </a:srgbClr>
          </a:solidFill>
          <a:ln w="12700">
            <a:solidFill>
              <a:srgbClr val="3DCD58">
                <a:alpha val="8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3009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&amp; Expert Leader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4809744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name for the labs Technical Director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6099048" y="2304288"/>
            <a:ext cx="0" cy="786384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41648" y="3273552"/>
            <a:ext cx="566928" cy="0"/>
          </a:xfrm>
          <a:prstGeom prst="line">
            <a:avLst/>
          </a:prstGeom>
          <a:noFill/>
          <a:ln w="12700">
            <a:solidFill>
              <a:srgbClr val="4B5A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52944" y="3273552"/>
            <a:ext cx="566928" cy="0"/>
          </a:xfrm>
          <a:prstGeom prst="line">
            <a:avLst/>
          </a:prstGeom>
          <a:noFill/>
          <a:ln w="12700">
            <a:solidFill>
              <a:srgbClr val="4B5A6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5568" y="4828032"/>
            <a:ext cx="566928" cy="566928"/>
          </a:xfrm>
          <a:prstGeom prst="ellipse">
            <a:avLst/>
          </a:prstGeom>
          <a:solidFill>
            <a:srgbClr val="188D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5568" y="49743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828800" y="4855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Sarre-Union Lab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828800" y="5138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99048" y="3950208"/>
            <a:ext cx="-4416552" cy="1170432"/>
          </a:xfrm>
          <a:prstGeom prst="line">
            <a:avLst/>
          </a:prstGeom>
          <a:noFill/>
          <a:ln w="12700">
            <a:solidFill>
              <a:srgbClr val="3DCD58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18888" y="4828032"/>
            <a:ext cx="566928" cy="56692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49743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532120" y="4855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Molins de Rei Lab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32120" y="5138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99048" y="3950208"/>
            <a:ext cx="-713232" cy="1170432"/>
          </a:xfrm>
          <a:prstGeom prst="line">
            <a:avLst/>
          </a:prstGeom>
          <a:noFill/>
          <a:ln w="12700">
            <a:solidFill>
              <a:srgbClr val="3DCD58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22208" y="4828032"/>
            <a:ext cx="566928" cy="566928"/>
          </a:xfrm>
          <a:prstGeom prst="ellipse">
            <a:avLst/>
          </a:prstGeom>
          <a:solidFill>
            <a:srgbClr val="D3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22208" y="49743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235440" y="4855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Capellades Lab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235440" y="5138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099048" y="3950208"/>
            <a:ext cx="2990088" cy="1170432"/>
          </a:xfrm>
          <a:prstGeom prst="line">
            <a:avLst/>
          </a:prstGeom>
          <a:noFill/>
          <a:ln w="12700">
            <a:solidFill>
              <a:srgbClr val="3DCD58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66" name="Text 64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4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operating responsibilities rebuilt as a validation value chain.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" y="1664208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182880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572768" y="1828800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180136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Assure the quality of the standard of production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1664208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182880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59168" y="1828800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180136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qualification of product evolutions or new products launch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22960" y="2724912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28895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572768" y="2889504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55648" y="286207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certifications tests, including 1 UL accredited Lab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09360" y="2724912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28895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059168" y="2889504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286207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P&amp;S specific solutions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22960" y="3785616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395020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1572768" y="3950208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55648" y="392277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returns, RTA and TEX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309360" y="3785616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395020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059168" y="3950208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42048" y="392277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support to the Customer Technical Support team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22960" y="4846320"/>
            <a:ext cx="4892040" cy="749808"/>
          </a:xfrm>
          <a:prstGeom prst="rect">
            <a:avLst/>
          </a:prstGeom>
          <a:solidFill>
            <a:srgbClr val="111A1F">
              <a:alpha val="88000"/>
            </a:srgbClr>
          </a:solidFill>
          <a:ln w="12700">
            <a:solidFill>
              <a:srgbClr val="344148">
                <a:alpha val="44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" y="501091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572768" y="5010912"/>
            <a:ext cx="0" cy="420624"/>
          </a:xfrm>
          <a:prstGeom prst="line">
            <a:avLst/>
          </a:prstGeom>
          <a:noFill/>
          <a:ln w="12700">
            <a:solidFill>
              <a:srgbClr val="3DCD58">
                <a:alpha val="6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55648" y="498348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the calibration of labs &amp; plants equipment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3822192" y="5650992"/>
            <a:ext cx="4498848" cy="384048"/>
          </a:xfrm>
          <a:prstGeom prst="rect">
            <a:avLst/>
          </a:prstGeom>
          <a:solidFill>
            <a:srgbClr val="111A1F">
              <a:alpha val="60000"/>
            </a:srgbClr>
          </a:solidFill>
          <a:ln w="12700">
            <a:solidFill>
              <a:srgbClr val="3DCD58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59936" y="576986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Labs connects production quality, certification readiness and product validation.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5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NETWORK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Three-lab network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Labs network: SU, ML and KP across France and Spain.</a:t>
            </a:r>
            <a:endParaRPr lang="en-US" sz="1400" dirty="0"/>
          </a:p>
        </p:txBody>
      </p:sp>
      <p:pic>
        <p:nvPicPr>
          <p:cNvPr id="33" name="Image 0" descr="/Users/marcrodriguez/Desktop/SLIDE_SCHNEIDER/assets/processed/ue_labs_network_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064" y="1234440"/>
            <a:ext cx="6400800" cy="41148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78040" y="157276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labs, shared validation network</a:t>
            </a:r>
            <a:endParaRPr lang="en-US" sz="2500" dirty="0"/>
          </a:p>
        </p:txBody>
      </p:sp>
      <p:sp>
        <p:nvSpPr>
          <p:cNvPr id="35" name="Shape 32"/>
          <p:cNvSpPr/>
          <p:nvPr/>
        </p:nvSpPr>
        <p:spPr>
          <a:xfrm>
            <a:off x="7333488" y="2514600"/>
            <a:ext cx="566928" cy="566928"/>
          </a:xfrm>
          <a:prstGeom prst="ellipse">
            <a:avLst/>
          </a:prstGeom>
          <a:solidFill>
            <a:srgbClr val="188D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33488" y="2660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046720" y="2542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Sarre-Union Lab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046720" y="28254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333488" y="3429000"/>
            <a:ext cx="566928" cy="56692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33488" y="35753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046720" y="34564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Molins de Rei Lab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046720" y="3739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333488" y="4343400"/>
            <a:ext cx="566928" cy="566928"/>
          </a:xfrm>
          <a:prstGeom prst="ellipse">
            <a:avLst/>
          </a:prstGeom>
          <a:solidFill>
            <a:srgbClr val="D3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33488" y="44897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046720" y="4370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Capellades Lab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046720" y="4654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351776" y="5376672"/>
            <a:ext cx="3520440" cy="493776"/>
          </a:xfrm>
          <a:prstGeom prst="rect">
            <a:avLst/>
          </a:prstGeom>
          <a:solidFill>
            <a:srgbClr val="111A1F">
              <a:alpha val="75000"/>
            </a:srgbClr>
          </a:solidFill>
          <a:ln w="12700">
            <a:solidFill>
              <a:srgbClr val="344148">
                <a:alpha val="2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07808" y="5532120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Labs network: SU / ML / KP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51" name="Text 48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6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rodriguez/Desktop/SLIDE_SCHNEIDER/assets/processed/capellades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80C0E">
              <a:alpha val="93000"/>
            </a:srgbClr>
          </a:solidFill>
          <a:ln w="12700">
            <a:solidFill>
              <a:srgbClr val="080C0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18304" y="640080"/>
            <a:ext cx="0" cy="544068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03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 | SPAIN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13232" y="1005840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Capellades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13232" y="2450592"/>
            <a:ext cx="3401568" cy="512064"/>
          </a:xfrm>
          <a:prstGeom prst="rect">
            <a:avLst/>
          </a:prstGeom>
          <a:solidFill>
            <a:srgbClr val="111A1F">
              <a:alpha val="86000"/>
            </a:srgbClr>
          </a:solidFill>
          <a:ln w="12700">
            <a:solidFill>
              <a:srgbClr val="3DCD58">
                <a:alpha val="6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59689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 CTDP since 1999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" y="3182112"/>
            <a:ext cx="3401568" cy="512064"/>
          </a:xfrm>
          <a:prstGeom prst="rect">
            <a:avLst/>
          </a:prstGeom>
          <a:solidFill>
            <a:srgbClr val="111A1F">
              <a:alpha val="78000"/>
            </a:srgbClr>
          </a:solidFill>
          <a:ln w="12700">
            <a:solidFill>
              <a:srgbClr val="344148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32841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number DA307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" y="409651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according to UL Standard can be performed with total autonomy and direct recognition of Underwriters Laboratories Inc.</a:t>
            </a:r>
            <a:endParaRPr lang="en-US" sz="1220" dirty="0"/>
          </a:p>
        </p:txBody>
      </p:sp>
      <p:pic>
        <p:nvPicPr>
          <p:cNvPr id="13" name="Image 1" descr="/Users/marcrodriguez/Desktop/SLIDE_SCHNEIDER/assets/processed/ul_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658368"/>
            <a:ext cx="1371600" cy="10241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16" name="Text 12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7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rodriguez/Desktop/SLIDE_SCHNEIDER/assets/processed/sarr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80C0E">
              <a:alpha val="93000"/>
            </a:srgbClr>
          </a:solidFill>
          <a:ln w="12700">
            <a:solidFill>
              <a:srgbClr val="080C0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18304" y="640080"/>
            <a:ext cx="0" cy="544068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03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| FRANCE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13232" y="1005840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Sarre-Union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13232" y="2505456"/>
            <a:ext cx="3401568" cy="548640"/>
          </a:xfrm>
          <a:prstGeom prst="rect">
            <a:avLst/>
          </a:prstGeom>
          <a:solidFill>
            <a:srgbClr val="111A1F">
              <a:alpha val="82000"/>
            </a:srgbClr>
          </a:solidFill>
          <a:ln w="12700">
            <a:solidFill>
              <a:srgbClr val="188DCC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679192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UE Labs network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3767328"/>
            <a:ext cx="566928" cy="566928"/>
          </a:xfrm>
          <a:prstGeom prst="ellipse">
            <a:avLst/>
          </a:prstGeom>
          <a:solidFill>
            <a:srgbClr val="188D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9136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3794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Sarre-Union Lab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4078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8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rodriguez/Desktop/SLIDE_SCHNEIDER/assets/processed/molins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80C0E">
              <a:alpha val="93000"/>
            </a:srgbClr>
          </a:solidFill>
          <a:ln w="12700">
            <a:solidFill>
              <a:srgbClr val="080C0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18304" y="640080"/>
            <a:ext cx="0" cy="5440680"/>
          </a:xfrm>
          <a:prstGeom prst="line">
            <a:avLst/>
          </a:prstGeom>
          <a:noFill/>
          <a:ln w="12700">
            <a:solidFill>
              <a:srgbClr val="3DCD58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03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| SPAIN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13232" y="1005840"/>
            <a:ext cx="3474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Molins de Rei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713232" y="2505456"/>
            <a:ext cx="3401568" cy="548640"/>
          </a:xfrm>
          <a:prstGeom prst="rect">
            <a:avLst/>
          </a:prstGeom>
          <a:solidFill>
            <a:srgbClr val="111A1F">
              <a:alpha val="82000"/>
            </a:srgbClr>
          </a:solidFill>
          <a:ln w="12700">
            <a:solidFill>
              <a:srgbClr val="F08A00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679192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UE Labs network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3767328"/>
            <a:ext cx="566928" cy="56692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9136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3794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Molins de Rei Lab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4078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9</a:t>
            </a:r>
            <a:endParaRPr lang="en-US" sz="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SCOPE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Standards &amp; certification scope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standards rebuilt as a capability matrix by lab.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1572768"/>
            <a:ext cx="3063240" cy="4224528"/>
          </a:xfrm>
          <a:prstGeom prst="rect">
            <a:avLst/>
          </a:prstGeom>
          <a:solidFill>
            <a:srgbClr val="111A1F">
              <a:alpha val="83000"/>
            </a:srgbClr>
          </a:solidFill>
          <a:ln w="12700">
            <a:solidFill>
              <a:srgbClr val="3DCD58">
                <a:alpha val="58000"/>
              </a:srgbClr>
            </a:solidFill>
            <a:prstDash val="solid"/>
          </a:ln>
        </p:spPr>
      </p:sp>
      <p:pic>
        <p:nvPicPr>
          <p:cNvPr id="34" name="Image 0" descr="/Users/marcrodriguez/Desktop/SLIDE_SCHNEIDER/assets/processed/ul_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0512"/>
            <a:ext cx="1097280" cy="8229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77824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Capellades Lab is CTDP by UL since 1999, File number DA307.</a:t>
            </a:r>
            <a:endParaRPr lang="en-US" sz="1220" dirty="0"/>
          </a:p>
        </p:txBody>
      </p:sp>
      <p:sp>
        <p:nvSpPr>
          <p:cNvPr id="36" name="Text 33"/>
          <p:cNvSpPr/>
          <p:nvPr/>
        </p:nvSpPr>
        <p:spPr>
          <a:xfrm>
            <a:off x="877824" y="3419856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according to UL Standard can be performed with total autonomy and direct recognition of Underwriters Laboratories Inc.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77824" y="51389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 / CSA recognition remains attached to KP in the matrix.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4005072" y="1572768"/>
            <a:ext cx="2286000" cy="530352"/>
          </a:xfrm>
          <a:prstGeom prst="rect">
            <a:avLst/>
          </a:prstGeom>
          <a:solidFill>
            <a:srgbClr val="172328">
              <a:alpha val="90000"/>
            </a:srgbClr>
          </a:solidFill>
          <a:ln w="12700">
            <a:solidFill>
              <a:srgbClr val="188DCC">
                <a:alpha val="8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33088" y="16824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8D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4608576" y="1682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Sarre-Union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455664" y="1572768"/>
            <a:ext cx="2286000" cy="530352"/>
          </a:xfrm>
          <a:prstGeom prst="rect">
            <a:avLst/>
          </a:prstGeom>
          <a:solidFill>
            <a:srgbClr val="172328">
              <a:alpha val="90000"/>
            </a:srgbClr>
          </a:solidFill>
          <a:ln w="12700">
            <a:solidFill>
              <a:srgbClr val="F08A00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0" y="16824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7059168" y="1682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Molins de Rei</a:t>
            </a:r>
            <a:endParaRPr lang="en-US" sz="1080" dirty="0"/>
          </a:p>
        </p:txBody>
      </p:sp>
      <p:sp>
        <p:nvSpPr>
          <p:cNvPr id="44" name="Shape 41"/>
          <p:cNvSpPr/>
          <p:nvPr/>
        </p:nvSpPr>
        <p:spPr>
          <a:xfrm>
            <a:off x="8906256" y="1572768"/>
            <a:ext cx="2286000" cy="530352"/>
          </a:xfrm>
          <a:prstGeom prst="rect">
            <a:avLst/>
          </a:prstGeom>
          <a:solidFill>
            <a:srgbClr val="172328">
              <a:alpha val="90000"/>
            </a:srgbClr>
          </a:solidFill>
          <a:ln w="12700">
            <a:solidFill>
              <a:srgbClr val="D32222">
                <a:alpha val="8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034272" y="16824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3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9509760" y="1682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Capellades</a:t>
            </a:r>
            <a:endParaRPr lang="en-US" sz="1080" dirty="0"/>
          </a:p>
        </p:txBody>
      </p:sp>
      <p:sp>
        <p:nvSpPr>
          <p:cNvPr id="47" name="Text 44"/>
          <p:cNvSpPr/>
          <p:nvPr/>
        </p:nvSpPr>
        <p:spPr>
          <a:xfrm>
            <a:off x="3657600" y="25420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4005072" y="2304288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33088" y="2423160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188DCC">
                <a:alpha val="92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187952" y="246430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 62208</a:t>
            </a:r>
            <a:endParaRPr lang="en-US" sz="860" dirty="0"/>
          </a:p>
        </p:txBody>
      </p:sp>
      <p:sp>
        <p:nvSpPr>
          <p:cNvPr id="51" name="Shape 48"/>
          <p:cNvSpPr/>
          <p:nvPr/>
        </p:nvSpPr>
        <p:spPr>
          <a:xfrm>
            <a:off x="4133088" y="2706624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188DCC">
                <a:alpha val="92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187952" y="27477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 60079-0</a:t>
            </a:r>
            <a:endParaRPr lang="en-US" sz="860" dirty="0"/>
          </a:p>
        </p:txBody>
      </p:sp>
      <p:sp>
        <p:nvSpPr>
          <p:cNvPr id="53" name="Shape 50"/>
          <p:cNvSpPr/>
          <p:nvPr/>
        </p:nvSpPr>
        <p:spPr>
          <a:xfrm>
            <a:off x="6455664" y="2304288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83680" y="2423160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F08A00">
                <a:alpha val="92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38544" y="246430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 62208</a:t>
            </a:r>
            <a:endParaRPr lang="en-US" sz="860" dirty="0"/>
          </a:p>
        </p:txBody>
      </p:sp>
      <p:sp>
        <p:nvSpPr>
          <p:cNvPr id="56" name="Shape 53"/>
          <p:cNvSpPr/>
          <p:nvPr/>
        </p:nvSpPr>
        <p:spPr>
          <a:xfrm>
            <a:off x="6583680" y="2706624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F08A00">
                <a:alpha val="92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38544" y="27477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 61439-1</a:t>
            </a:r>
            <a:endParaRPr lang="en-US" sz="860" dirty="0"/>
          </a:p>
        </p:txBody>
      </p:sp>
      <p:sp>
        <p:nvSpPr>
          <p:cNvPr id="58" name="Shape 55"/>
          <p:cNvSpPr/>
          <p:nvPr/>
        </p:nvSpPr>
        <p:spPr>
          <a:xfrm>
            <a:off x="6583680" y="2990088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F08A00">
                <a:alpha val="92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638544" y="303123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 61439-5</a:t>
            </a:r>
            <a:endParaRPr lang="en-US" sz="860" dirty="0"/>
          </a:p>
        </p:txBody>
      </p:sp>
      <p:sp>
        <p:nvSpPr>
          <p:cNvPr id="60" name="Shape 57"/>
          <p:cNvSpPr/>
          <p:nvPr/>
        </p:nvSpPr>
        <p:spPr>
          <a:xfrm>
            <a:off x="8906256" y="2304288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034272" y="2423160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D32222">
                <a:alpha val="92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089136" y="246430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IEC 62208</a:t>
            </a:r>
            <a:endParaRPr lang="en-US" sz="860" dirty="0"/>
          </a:p>
        </p:txBody>
      </p:sp>
      <p:sp>
        <p:nvSpPr>
          <p:cNvPr id="63" name="Text 60"/>
          <p:cNvSpPr/>
          <p:nvPr/>
        </p:nvSpPr>
        <p:spPr>
          <a:xfrm>
            <a:off x="3657600" y="34290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</a:t>
            </a:r>
            <a:endParaRPr lang="en-US" sz="880" dirty="0"/>
          </a:p>
        </p:txBody>
      </p:sp>
      <p:sp>
        <p:nvSpPr>
          <p:cNvPr id="64" name="Shape 61"/>
          <p:cNvSpPr/>
          <p:nvPr/>
        </p:nvSpPr>
        <p:spPr>
          <a:xfrm>
            <a:off x="4005072" y="3191256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133088" y="3310128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188DCC">
                <a:alpha val="92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187952" y="335127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12944-6</a:t>
            </a:r>
            <a:endParaRPr lang="en-US" sz="860" dirty="0"/>
          </a:p>
        </p:txBody>
      </p:sp>
      <p:sp>
        <p:nvSpPr>
          <p:cNvPr id="67" name="Shape 64"/>
          <p:cNvSpPr/>
          <p:nvPr/>
        </p:nvSpPr>
        <p:spPr>
          <a:xfrm>
            <a:off x="4133088" y="3593592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188DCC">
                <a:alpha val="92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187952" y="36347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4624</a:t>
            </a:r>
            <a:endParaRPr lang="en-US" sz="860" dirty="0"/>
          </a:p>
        </p:txBody>
      </p:sp>
      <p:sp>
        <p:nvSpPr>
          <p:cNvPr id="69" name="Shape 66"/>
          <p:cNvSpPr/>
          <p:nvPr/>
        </p:nvSpPr>
        <p:spPr>
          <a:xfrm>
            <a:off x="6455664" y="3191256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906256" y="3191256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034272" y="3310128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D32222">
                <a:alpha val="92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089136" y="335127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12944-6</a:t>
            </a:r>
            <a:endParaRPr lang="en-US" sz="860" dirty="0"/>
          </a:p>
        </p:txBody>
      </p:sp>
      <p:sp>
        <p:nvSpPr>
          <p:cNvPr id="73" name="Text 70"/>
          <p:cNvSpPr/>
          <p:nvPr/>
        </p:nvSpPr>
        <p:spPr>
          <a:xfrm>
            <a:off x="3657600" y="43159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endParaRPr lang="en-US" sz="880" dirty="0"/>
          </a:p>
        </p:txBody>
      </p:sp>
      <p:sp>
        <p:nvSpPr>
          <p:cNvPr id="74" name="Shape 71"/>
          <p:cNvSpPr/>
          <p:nvPr/>
        </p:nvSpPr>
        <p:spPr>
          <a:xfrm>
            <a:off x="4005072" y="4078224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133088" y="4197096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188DCC">
                <a:alpha val="9200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187952" y="42382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61386-1</a:t>
            </a:r>
            <a:endParaRPr lang="en-US" sz="860" dirty="0"/>
          </a:p>
        </p:txBody>
      </p:sp>
      <p:sp>
        <p:nvSpPr>
          <p:cNvPr id="77" name="Shape 74"/>
          <p:cNvSpPr/>
          <p:nvPr/>
        </p:nvSpPr>
        <p:spPr>
          <a:xfrm>
            <a:off x="6455664" y="4078224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906256" y="4078224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657600" y="5202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 / CSA</a:t>
            </a:r>
            <a:endParaRPr lang="en-US" sz="880" dirty="0"/>
          </a:p>
        </p:txBody>
      </p:sp>
      <p:sp>
        <p:nvSpPr>
          <p:cNvPr id="80" name="Shape 77"/>
          <p:cNvSpPr/>
          <p:nvPr/>
        </p:nvSpPr>
        <p:spPr>
          <a:xfrm>
            <a:off x="4005072" y="4965192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455664" y="4965192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6256" y="4965192"/>
            <a:ext cx="2286000" cy="813816"/>
          </a:xfrm>
          <a:prstGeom prst="rect">
            <a:avLst/>
          </a:prstGeom>
          <a:solidFill>
            <a:srgbClr val="111A1F">
              <a:alpha val="68000"/>
            </a:srgbClr>
          </a:solidFill>
          <a:ln w="12700">
            <a:solidFill>
              <a:srgbClr val="344148">
                <a:alpha val="1800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034272" y="5084064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D32222">
                <a:alpha val="9200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9089136" y="512521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 50 / CSA C22.2 Nº 94.1</a:t>
            </a:r>
            <a:endParaRPr lang="en-US" sz="860" dirty="0"/>
          </a:p>
        </p:txBody>
      </p:sp>
      <p:sp>
        <p:nvSpPr>
          <p:cNvPr id="85" name="Shape 82"/>
          <p:cNvSpPr/>
          <p:nvPr/>
        </p:nvSpPr>
        <p:spPr>
          <a:xfrm>
            <a:off x="9034272" y="5367528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D32222">
                <a:alpha val="9200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089136" y="540867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 50E / CSA C22.2 Nº 94.2</a:t>
            </a:r>
            <a:endParaRPr lang="en-US" sz="860" dirty="0"/>
          </a:p>
        </p:txBody>
      </p:sp>
      <p:sp>
        <p:nvSpPr>
          <p:cNvPr id="87" name="Shape 84"/>
          <p:cNvSpPr/>
          <p:nvPr/>
        </p:nvSpPr>
        <p:spPr>
          <a:xfrm>
            <a:off x="9034272" y="5650992"/>
            <a:ext cx="2029968" cy="256032"/>
          </a:xfrm>
          <a:prstGeom prst="rect">
            <a:avLst/>
          </a:prstGeom>
          <a:solidFill>
            <a:srgbClr val="10171B">
              <a:alpha val="97000"/>
            </a:srgbClr>
          </a:solidFill>
          <a:ln w="12700">
            <a:solidFill>
              <a:srgbClr val="D32222">
                <a:alpha val="92000"/>
              </a:srgbClr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089136" y="56921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 746 C</a:t>
            </a:r>
            <a:endParaRPr lang="en-US" sz="860" dirty="0"/>
          </a:p>
        </p:txBody>
      </p:sp>
      <p:sp>
        <p:nvSpPr>
          <p:cNvPr id="89" name="Shape 86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91" name="Text 88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10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TESTED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Products tested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58368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Products Tested: Spacial, Thalassa and ClimaSys portfolios.</a:t>
            </a:r>
            <a:endParaRPr lang="en-US" sz="1400" dirty="0"/>
          </a:p>
        </p:txBody>
      </p:sp>
      <p:pic>
        <p:nvPicPr>
          <p:cNvPr id="33" name="Image 0" descr="/Users/marcrodriguez/Desktop/SLIDE_SCHNEIDER/assets/processed/product_portfolio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1143000"/>
            <a:ext cx="5029200" cy="28346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428232" y="1143000"/>
            <a:ext cx="5029200" cy="283464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344148">
                <a:alpha val="5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9808" y="4425696"/>
            <a:ext cx="3310128" cy="1143000"/>
          </a:xfrm>
          <a:prstGeom prst="rect">
            <a:avLst/>
          </a:prstGeom>
          <a:solidFill>
            <a:srgbClr val="111A1F">
              <a:alpha val="89000"/>
            </a:srgbClr>
          </a:solidFill>
          <a:ln w="12700">
            <a:solidFill>
              <a:srgbClr val="3DCD58">
                <a:alpha val="62000"/>
              </a:srgbClr>
            </a:solidFill>
            <a:prstDash val="solid"/>
          </a:ln>
        </p:spPr>
      </p:sp>
      <p:pic>
        <p:nvPicPr>
          <p:cNvPr id="36" name="Image 1" descr="/Users/marcrodriguez/Desktop/SLIDE_SCHNEIDER/assets/processed/product_spa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617720"/>
            <a:ext cx="1234440" cy="69494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267712" y="4608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Spacial</a:t>
            </a:r>
            <a:endParaRPr lang="en-US" sz="1580" dirty="0"/>
          </a:p>
        </p:txBody>
      </p:sp>
      <p:sp>
        <p:nvSpPr>
          <p:cNvPr id="38" name="Text 34"/>
          <p:cNvSpPr/>
          <p:nvPr/>
        </p:nvSpPr>
        <p:spPr>
          <a:xfrm>
            <a:off x="2267712" y="49286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Steel and stainless steel</a:t>
            </a:r>
            <a:endParaRPr lang="en-US" sz="980" dirty="0"/>
          </a:p>
        </p:txBody>
      </p:sp>
      <p:sp>
        <p:nvSpPr>
          <p:cNvPr id="39" name="Shape 35"/>
          <p:cNvSpPr/>
          <p:nvPr/>
        </p:nvSpPr>
        <p:spPr>
          <a:xfrm>
            <a:off x="4517136" y="4425696"/>
            <a:ext cx="3310128" cy="1143000"/>
          </a:xfrm>
          <a:prstGeom prst="rect">
            <a:avLst/>
          </a:prstGeom>
          <a:solidFill>
            <a:srgbClr val="111A1F">
              <a:alpha val="89000"/>
            </a:srgbClr>
          </a:solidFill>
          <a:ln w="12700">
            <a:solidFill>
              <a:srgbClr val="188DCC">
                <a:alpha val="62000"/>
              </a:srgbClr>
            </a:solidFill>
            <a:prstDash val="solid"/>
          </a:ln>
        </p:spPr>
      </p:sp>
      <p:pic>
        <p:nvPicPr>
          <p:cNvPr id="40" name="Image 2" descr="/Users/marcrodriguez/Desktop/SLIDE_SCHNEIDER/assets/processed/product_thalass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4617720"/>
            <a:ext cx="1234440" cy="6949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035040" y="4608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Thalassa</a:t>
            </a:r>
            <a:endParaRPr lang="en-US" sz="1580" dirty="0"/>
          </a:p>
        </p:txBody>
      </p:sp>
      <p:sp>
        <p:nvSpPr>
          <p:cNvPr id="42" name="Text 37"/>
          <p:cNvSpPr/>
          <p:nvPr/>
        </p:nvSpPr>
        <p:spPr>
          <a:xfrm>
            <a:off x="6035040" y="49286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and glass-reinforced polyester</a:t>
            </a:r>
            <a:endParaRPr lang="en-US" sz="980" dirty="0"/>
          </a:p>
        </p:txBody>
      </p:sp>
      <p:sp>
        <p:nvSpPr>
          <p:cNvPr id="43" name="Shape 38"/>
          <p:cNvSpPr/>
          <p:nvPr/>
        </p:nvSpPr>
        <p:spPr>
          <a:xfrm>
            <a:off x="8284464" y="4425696"/>
            <a:ext cx="3310128" cy="1143000"/>
          </a:xfrm>
          <a:prstGeom prst="rect">
            <a:avLst/>
          </a:prstGeom>
          <a:solidFill>
            <a:srgbClr val="111A1F">
              <a:alpha val="89000"/>
            </a:srgbClr>
          </a:solidFill>
          <a:ln w="12700">
            <a:solidFill>
              <a:srgbClr val="F08A00">
                <a:alpha val="62000"/>
              </a:srgbClr>
            </a:solidFill>
            <a:prstDash val="solid"/>
          </a:ln>
        </p:spPr>
      </p:sp>
      <p:pic>
        <p:nvPicPr>
          <p:cNvPr id="44" name="Image 3" descr="/Users/marcrodriguez/Desktop/SLIDE_SCHNEIDER/assets/processed/product_climasy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1234440" cy="69494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802368" y="4608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5F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ClimaSys</a:t>
            </a:r>
            <a:endParaRPr lang="en-US" sz="1580" dirty="0"/>
          </a:p>
        </p:txBody>
      </p:sp>
      <p:sp>
        <p:nvSpPr>
          <p:cNvPr id="46" name="Text 40"/>
          <p:cNvSpPr/>
          <p:nvPr/>
        </p:nvSpPr>
        <p:spPr>
          <a:xfrm>
            <a:off x="9802368" y="49286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management systems</a:t>
            </a:r>
            <a:endParaRPr lang="en-US" sz="980" dirty="0"/>
          </a:p>
        </p:txBody>
      </p:sp>
      <p:sp>
        <p:nvSpPr>
          <p:cNvPr id="47" name="Shape 41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49" name="Text 43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11</a:t>
            </a:r>
            <a:endParaRPr lang="en-US" sz="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rodriguez/Desktop/SLIDE_SCHNEIDER/assets/processed/environment_technical_fiel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marcrodriguez/Desktop/SLIDE_SCHNEIDER/assets/processed/product_portfolio_her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896112"/>
            <a:ext cx="3895344" cy="2194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452360" y="896112"/>
            <a:ext cx="3895344" cy="219456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344148">
                <a:alpha val="4500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58368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ENVIRONMENTS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621792" y="758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families / environments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749808" y="1572768"/>
            <a:ext cx="5943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Spacial, Thalassa and ClimaSys enclosures and thermal management solutions are the world’s best choice for equipment protection in any type of environment.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786384" y="3858768"/>
            <a:ext cx="2871216" cy="612648"/>
          </a:xfrm>
          <a:prstGeom prst="rect">
            <a:avLst/>
          </a:prstGeom>
          <a:solidFill>
            <a:srgbClr val="111A1F">
              <a:alpha val="72000"/>
            </a:srgbClr>
          </a:solidFill>
          <a:ln w="12700">
            <a:solidFill>
              <a:srgbClr val="344148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41832" y="397764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protection</a:t>
            </a:r>
            <a:endParaRPr lang="en-US" sz="1240" dirty="0"/>
          </a:p>
        </p:txBody>
      </p:sp>
      <p:sp>
        <p:nvSpPr>
          <p:cNvPr id="10" name="Text 6"/>
          <p:cNvSpPr/>
          <p:nvPr/>
        </p:nvSpPr>
        <p:spPr>
          <a:xfrm>
            <a:off x="941832" y="4197096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for equipment in demanding industrial settings</a:t>
            </a:r>
            <a:endParaRPr lang="en-US" sz="790" dirty="0"/>
          </a:p>
        </p:txBody>
      </p:sp>
      <p:sp>
        <p:nvSpPr>
          <p:cNvPr id="11" name="Shape 7"/>
          <p:cNvSpPr/>
          <p:nvPr/>
        </p:nvSpPr>
        <p:spPr>
          <a:xfrm>
            <a:off x="4114800" y="3858768"/>
            <a:ext cx="2871216" cy="612648"/>
          </a:xfrm>
          <a:prstGeom prst="rect">
            <a:avLst/>
          </a:prstGeom>
          <a:solidFill>
            <a:srgbClr val="111A1F">
              <a:alpha val="72000"/>
            </a:srgbClr>
          </a:solidFill>
          <a:ln w="12700">
            <a:solidFill>
              <a:srgbClr val="344148">
                <a:alpha val="3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70248" y="397764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resistance</a:t>
            </a:r>
            <a:endParaRPr lang="en-US" sz="1240" dirty="0"/>
          </a:p>
        </p:txBody>
      </p:sp>
      <p:sp>
        <p:nvSpPr>
          <p:cNvPr id="13" name="Text 9"/>
          <p:cNvSpPr/>
          <p:nvPr/>
        </p:nvSpPr>
        <p:spPr>
          <a:xfrm>
            <a:off x="4270248" y="4197096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Steel, stainless steel, plastic and glass-reinforced polyester</a:t>
            </a:r>
            <a:endParaRPr lang="en-US" sz="790" dirty="0"/>
          </a:p>
        </p:txBody>
      </p:sp>
      <p:sp>
        <p:nvSpPr>
          <p:cNvPr id="14" name="Shape 10"/>
          <p:cNvSpPr/>
          <p:nvPr/>
        </p:nvSpPr>
        <p:spPr>
          <a:xfrm>
            <a:off x="786384" y="4727448"/>
            <a:ext cx="2871216" cy="612648"/>
          </a:xfrm>
          <a:prstGeom prst="rect">
            <a:avLst/>
          </a:prstGeom>
          <a:solidFill>
            <a:srgbClr val="111A1F">
              <a:alpha val="72000"/>
            </a:srgbClr>
          </a:solidFill>
          <a:ln w="12700">
            <a:solidFill>
              <a:srgbClr val="344148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41832" y="48463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management</a:t>
            </a:r>
            <a:endParaRPr lang="en-US" sz="1240" dirty="0"/>
          </a:p>
        </p:txBody>
      </p:sp>
      <p:sp>
        <p:nvSpPr>
          <p:cNvPr id="16" name="Text 12"/>
          <p:cNvSpPr/>
          <p:nvPr/>
        </p:nvSpPr>
        <p:spPr>
          <a:xfrm>
            <a:off x="941832" y="5065776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ClimaSys systems for heat and enclosure performance</a:t>
            </a:r>
            <a:endParaRPr lang="en-US" sz="790" dirty="0"/>
          </a:p>
        </p:txBody>
      </p:sp>
      <p:sp>
        <p:nvSpPr>
          <p:cNvPr id="17" name="Shape 13"/>
          <p:cNvSpPr/>
          <p:nvPr/>
        </p:nvSpPr>
        <p:spPr>
          <a:xfrm>
            <a:off x="4114800" y="4727448"/>
            <a:ext cx="2871216" cy="612648"/>
          </a:xfrm>
          <a:prstGeom prst="rect">
            <a:avLst/>
          </a:prstGeom>
          <a:solidFill>
            <a:srgbClr val="111A1F">
              <a:alpha val="72000"/>
            </a:srgbClr>
          </a:solidFill>
          <a:ln w="12700">
            <a:solidFill>
              <a:srgbClr val="344148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70248" y="48463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3DC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Enclosure reliability</a:t>
            </a:r>
            <a:endParaRPr lang="en-US" sz="1240" dirty="0"/>
          </a:p>
        </p:txBody>
      </p:sp>
      <p:sp>
        <p:nvSpPr>
          <p:cNvPr id="19" name="Text 15"/>
          <p:cNvSpPr/>
          <p:nvPr/>
        </p:nvSpPr>
        <p:spPr>
          <a:xfrm>
            <a:off x="4270248" y="5065776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focus across environments and use cases</a:t>
            </a:r>
            <a:endParaRPr lang="en-US" sz="790" dirty="0"/>
          </a:p>
        </p:txBody>
      </p:sp>
      <p:sp>
        <p:nvSpPr>
          <p:cNvPr id="20" name="Shape 16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22" name="Text 18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12</a:t>
            </a:r>
            <a:endParaRPr lang="en-US" sz="5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E"/>
          </a:solidFill>
          <a:ln w="12700">
            <a:solidFill>
              <a:srgbClr val="080C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658368"/>
            <a:ext cx="0" cy="5376672"/>
          </a:xfrm>
          <a:prstGeom prst="line">
            <a:avLst/>
          </a:prstGeom>
          <a:noFill/>
          <a:ln w="12700">
            <a:solidFill>
              <a:srgbClr val="344148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3969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9806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73168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431536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12700">
            <a:solidFill>
              <a:srgbClr val="3441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566928"/>
            <a:ext cx="146304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658368"/>
            <a:ext cx="658368" cy="0"/>
          </a:xfrm>
          <a:prstGeom prst="line">
            <a:avLst/>
          </a:prstGeom>
          <a:noFill/>
          <a:ln w="12700">
            <a:solidFill>
              <a:srgbClr val="3DCD58">
                <a:alpha val="75000"/>
              </a:srgbClr>
            </a:solidFill>
            <a:prstDash val="solid"/>
          </a:ln>
        </p:spPr>
      </p:sp>
      <p:pic>
        <p:nvPicPr>
          <p:cNvPr id="30" name="Image 0" descr="/Users/marcrodriguez/Desktop/SLIDE_SCHNEIDER/assets/processed/environment_technical_fiel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Image 1" descr="/Users/marcrodriguez/Desktop/SLIDE_SCHNEIDER/assets/processed/schneider_logo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94360"/>
            <a:ext cx="1325880" cy="36726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86384" y="239572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8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UE LABS</a:t>
            </a:r>
            <a:endParaRPr lang="en-US" sz="4800" dirty="0"/>
          </a:p>
        </p:txBody>
      </p:sp>
      <p:sp>
        <p:nvSpPr>
          <p:cNvPr id="34" name="Shape 30"/>
          <p:cNvSpPr/>
          <p:nvPr/>
        </p:nvSpPr>
        <p:spPr>
          <a:xfrm>
            <a:off x="822960" y="3255264"/>
            <a:ext cx="2194560" cy="0"/>
          </a:xfrm>
          <a:prstGeom prst="line">
            <a:avLst/>
          </a:prstGeom>
          <a:noFill/>
          <a:ln w="12700">
            <a:solidFill>
              <a:srgbClr val="3DCD5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41248" y="36027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B4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confidence. Certification readiness. Product quality.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2700">
            <a:solidFill>
              <a:srgbClr val="4B5A61">
                <a:alpha val="48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1792" y="6528816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2020 Schneider Electric, All Rights Reserved | Confidential Property of Schneider Electric</a:t>
            </a:r>
            <a:endParaRPr lang="en-US" sz="580" dirty="0"/>
          </a:p>
        </p:txBody>
      </p:sp>
      <p:sp>
        <p:nvSpPr>
          <p:cNvPr id="38" name="Text 34"/>
          <p:cNvSpPr/>
          <p:nvPr/>
        </p:nvSpPr>
        <p:spPr>
          <a:xfrm>
            <a:off x="11045952" y="6528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F7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13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Schneider Electric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 LABS - Testing, certification &amp; product validation network</dc:title>
  <dc:subject>UE Labs redesigned internal presentation</dc:subject>
  <dc:creator>Schneider Electric</dc:creator>
  <cp:lastModifiedBy>Schneider Electric</cp:lastModifiedBy>
  <cp:revision>1</cp:revision>
  <dcterms:created xsi:type="dcterms:W3CDTF">2026-05-13T10:24:50Z</dcterms:created>
  <dcterms:modified xsi:type="dcterms:W3CDTF">2026-05-13T10:24:50Z</dcterms:modified>
</cp:coreProperties>
</file>